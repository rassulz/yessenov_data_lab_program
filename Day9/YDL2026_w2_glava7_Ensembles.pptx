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510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 2026 · Неделя 2 · Глава 7 (по Жерону)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Ансамблевое обучение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случайные леса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Голосование, бэггинг, случайные леса, бустинг и стекинг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Коллективный разум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Коллективный разум (wisdom of the crowd)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агрегированный ответ толпы часто лучше эксперта.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прогнозаторов = </a:t>
            </a: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приём = </a:t>
            </a: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ансамблевое обучение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Объединяем прогнозы многих моделей → обычно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лучшей одиночной.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Ансамбли часто выигрывают соревнования по МО (например, Netflix Prize).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этой главе: голосование, бэггинг/вставка, леса, бустинг, стекинг.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Классификаторы с голосованием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Жёсткое голосование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 разные классификаторы: лог. регрессия, SVM, случайный лес, kNN…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Жёсткое голосование (hard voting)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берём класс с большинством голосов.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 лучшего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классификатора в ансамбле.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Работает, даже если каждый, </a:t>
            </a: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слабый ученик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(чуть лучше угадывания),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89888" y="2660904"/>
            <a:ext cx="7342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условии, что моделей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они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разнообразны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Закон больших чисел, проверено в Python</a:t>
            </a:r>
            <a:endParaRPr lang="en-US" sz="2500" dirty="0"/>
          </a:p>
        </p:txBody>
      </p:sp>
      <p:pic>
        <p:nvPicPr>
          <p:cNvPr id="3" name="Image 0" descr="ens_ll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45044"/>
            <a:ext cx="4480560" cy="24877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66360" y="146304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58968" y="1463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Монета с 51% орлов: 10 серий по 10000 бросков.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66360" y="214884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58968" y="2148840"/>
            <a:ext cx="36118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сходится к </a:t>
            </a: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66360" y="257403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58968" y="2574036"/>
            <a:ext cx="36118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P(большинство орлов из 1000) ≈ </a:t>
            </a: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66360" y="29992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58968" y="29992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10000 ≈ </a:t>
            </a: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(посчитано через binom).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Мягкое голосование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Мягкое голосование (soft voting)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усредняем </a:t>
            </a: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вероятности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классов.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эффективнее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жёсткого: больший вес уверенным голосам.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классификаторы с методом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SVC задайте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probability=True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(замедляет обучение).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оговорка: рост точности возможен, только если модели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ошибках.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VotingClassifier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67512" y="1298448"/>
            <a:ext cx="78089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RandomForestClassifier, VotingClassifier
from sklearn.linear_model import LogisticRegression
from sklearn.svm import SVC
voting_clf = VotingClassifier(
    estimators=[('lr', LogisticRegression()),
                ('rf', RandomForestClassifier()),
                ('svc', SVC())],
    voting='hard')
voting_clf.fit(X_train, y_train)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Бэггинг и вставка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Бэггинг vs вставка (pasting)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709160" y="123444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5F3FB"/>
          </a:solidFill>
          <a:ln w="12700">
            <a:solidFill>
              <a:srgbClr val="E5DE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Бэггинг (bagging)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Вставка (pasting)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801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8013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заменой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(bootstrap).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258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2585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прогнозатор может видеть образец несколько раз.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898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8986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Чуть больше смещение, но меньше дисперсия → </a:t>
            </a:r>
            <a:r>
              <a:rPr lang="en-US" sz="13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лучше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01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2352" y="18013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замены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258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02352" y="22585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алгоритм на разных случайных поднаборах.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2898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28986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Агрегирование: </a:t>
            </a: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(классиф.) или среднее (регрессия).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дерево vs бэггинг из 500 деревьев</a:t>
            </a:r>
            <a:endParaRPr lang="en-US" sz="2500" dirty="0"/>
          </a:p>
        </p:txBody>
      </p:sp>
      <p:pic>
        <p:nvPicPr>
          <p:cNvPr id="3" name="Image 0" descr="ens_bagg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505" y="1325880"/>
            <a:ext cx="603043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Бэггинг даёт сопоставимое смещение, но меньшую дисперсию: граница глаже. Набор moons (sklearn).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BaggingClassifier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22494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67512" y="1344168"/>
            <a:ext cx="78089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BaggingClassifier
from sklearn.tree import DecisionTreeClassifier
bag_clf = BaggingClassifier(
    DecisionTreeClassifier(), n_estimators=500,
    max_samples=100, bootstrap=True, n_jobs=-1)
bag_clf.fit(X_train, y_train)
</a:t>
            </a:r>
            <a:r>
              <a:rPr lang="en-US" sz="14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bootstrap=False -&gt; вставка (pasting)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на неиспользуемых образцах (OOB)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бэггинге каждый прогнозатор видит ≈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образцов (предел 1 − 1/e ≈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Остальные ≈ 37%, это </a:t>
            </a: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неиспользуемые (out-of-bag, oob)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образцы.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оценивать модель на oob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отдельного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проверочного набора.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Задайте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oob_score=True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В нашем прогоне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= 0.896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тест =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сошлось.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oob_decision_function_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даёт вероятности классов для каждого образца.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Случайные участки и подпространства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BaggingClassifier умеет и </a:t>
            </a: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выборку признаков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bootstrap_features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участки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(random patches): выборка и образцов, и признаков.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подпространства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все образцы, но выборка признаков.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Полезно для данных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высокой размерности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(например, изображения).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разнообразия → больше смещение в обмен на меньшую дисперсию.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Случайные леса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ансамбль деревьев, обученных бэггингом.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Удобный класс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(и RandomForestRegressor).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Доп. случайность: при расщеплении узла ищет лучший признак в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случайном поднаборе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признаков.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разнообразия деревьев → меньше дисперсия, обычно лучше модель.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Имеет гиперпараметры и дерева (max_depth…), и ансамбля (n_estimators…).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RandomForestClassifier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8138160" cy="17556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67512" y="1389888"/>
            <a:ext cx="78089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
rnd_clf = RandomForestClassifier(
    n_estimators=500, max_leaf_nodes=16, n_jobs=-1)
rnd_clf.fit(X_train, y_train)
y_pred = rnd_clf.predict(X_test)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Особо случайные деревья (Extra-Trees)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Extra-Trees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используют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пороги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вместо поиска наилучшего.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больше разнообразия: выше смещение, ниже дисперсия.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Обучаются </a:t>
            </a: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намного быстрее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не ищут лучший порог в каждом узле.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ExtraTreesClassifier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ExtraTreesRegressor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лучше, RF или Extra-Trees? Только перекрёстная проверка покажет.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Значимость признаков (iris), проверено</a:t>
            </a:r>
            <a:endParaRPr lang="en-US" sz="2500" dirty="0"/>
          </a:p>
        </p:txBody>
      </p:sp>
      <p:pic>
        <p:nvPicPr>
          <p:cNvPr id="3" name="Image 0" descr="ens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5729"/>
            <a:ext cx="4389120" cy="26463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4920" y="15544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367528" y="15544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 сам измеряет, насколько признак снижает загрязнённость.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74920" y="225856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67528" y="225856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ирисах: длина лепестка </a:t>
            </a: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ширина </a:t>
            </a: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74920" y="29626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67528" y="2962656"/>
            <a:ext cx="37033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Чашелистик: </a:t>
            </a: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74920" y="340614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67528" y="3406140"/>
            <a:ext cx="37033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Совпало с книгой, числа честные.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Значимость пикселей (digits 8×8)</a:t>
            </a:r>
            <a:endParaRPr lang="en-US" sz="2500" dirty="0"/>
          </a:p>
        </p:txBody>
      </p:sp>
      <p:pic>
        <p:nvPicPr>
          <p:cNvPr id="3" name="Image 0" descr="ens_pix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634" y="1234440"/>
            <a:ext cx="3766733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 на реальном наборе digits: важные пиксели в центре изображения, по краям, почти нули.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Бустинг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Бустинг: последовательное исправление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Бустинг (boosting)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комбинирует слабых учеников в сильного.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Прогнозаторы обучаются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каждый исправляет предшественника.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популярные: </a:t>
            </a: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бустинг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плохо распараллеливается (каждый ждёт предыдущего).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Масштабируется хуже бэггинга, зато часто очень точен.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AdaBoost: последовательные границы</a:t>
            </a:r>
            <a:endParaRPr lang="en-US" sz="2500" dirty="0"/>
          </a:p>
        </p:txBody>
      </p:sp>
      <p:pic>
        <p:nvPicPr>
          <p:cNvPr id="3" name="Image 0" descr="ens_ada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947" y="1325880"/>
            <a:ext cx="5993546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RBF-SVM подряд. Ошибочные образцы получают больший вес. Справа скорость обучения вдвое меньше. Набор moons.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AdaBoost: как это работает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образцов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повышаются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там, где была ошибка; следующий фокусируется на них.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прогнозатора αⱼ = η·log((1 − rⱼ)/rⱼ): точнее → больше вес.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использует </a:t>
            </a: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(и </a:t>
            </a: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SAMME.R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вероятностям).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AdaBoostClassifier(DecisionTreeClassifier(max_depth=1), n_estimators=200)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Переобучается → </a:t>
            </a: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уменьшите число оценщиков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регуляризируйте базовый.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Градиентный бустинг (GBRT)</a:t>
            </a:r>
            <a:endParaRPr lang="en-US" sz="2500" dirty="0"/>
          </a:p>
        </p:txBody>
      </p:sp>
      <p:pic>
        <p:nvPicPr>
          <p:cNvPr id="3" name="Image 0" descr="ens_gb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78" y="1280160"/>
            <a:ext cx="3471123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4920" y="13716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367528" y="13716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новое дерево учится на </a:t>
            </a: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остаточных ошибках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предыдущего.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74920" y="207568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67528" y="207568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ансамбля = </a:t>
            </a: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прогнозов деревьев.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74920" y="27797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67528" y="277977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каждым деревом ансамбль становится лучше.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74920" y="348386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67528" y="348386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Слева, деревья и остатки, справа, ансамбль.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GradientBoostingRegressor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8138160" cy="17556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67512" y="1389888"/>
            <a:ext cx="78089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GradientBoostingRegressor
gbrt = GradientBoostingRegressor(
    max_depth=2, n_estimators=3, learning_rate=1.0)
gbrt.fit(X, y)
</a:t>
            </a:r>
            <a:r>
              <a:rPr lang="en-US" sz="14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learning_rate=0.1 -&gt; сжатие (shrinkage), нужно больше деревьев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GBRT: регуляризация и раннее прекращение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вклад каждого дерева. Малое значение = </a:t>
            </a: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(shrinkage)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деревьев → недообучение; слишком много → переобучение.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прекращение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ищем оптимум через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staged_predict()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останавливать обучение «на лету» с </a:t>
            </a: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warm_start=True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даёт </a:t>
            </a: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стохастический градиентный бустинг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быстрее, ниже дисперсия.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Стекинг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Стекинг (stacked generalization)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простого голосования, </a:t>
            </a: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 модель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агрегировать прогнозы.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модель: </a:t>
            </a: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смеситель (blender)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мета-ученик.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Обучающий набор делят на поднаборы: первый, для базовых моделей,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2281428"/>
            <a:ext cx="7342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(удержанный) даёт «чистые» прогнозы → новый набор для смесителя.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строить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уровней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смесителей. sklearn: StackingClassifier/Regressor.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по ансамблям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объединяет разные модели (hard/soft).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Бэггинг/леса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снижают дисперсию усреднением; OOB оценивает бесплатно.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Бустинг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последовательно исправляет ошибки (AdaBoost, GBRT).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Стекинг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учит модель объединять прогнозы.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разнообразие моделей и независимость ошибок, ключ к сильному ансамблю.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для проверки (упражнения)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Пять моделей по 95% на тех же данных, можно ли их объединить и как?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6819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156819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Разница между жёстким и мягким голосованием?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94767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Какие ансамбли можно распараллелить по серверам, а какие нет?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2714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2714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 чём преимущество oob-оценки?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70662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270662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Чем Extra-Trees случайнее леса? Быстрее или медленнее?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0861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2688" y="30861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AdaBoost недообучается, что подстраивать?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4655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34655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GBRT переобучается, увеличить или уменьшить скорость обучения?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50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38450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Соберите ансамбль на MNIST и сравните со стекингом.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1526</Words>
  <Application>Microsoft Office PowerPoint</Application>
  <PresentationFormat>Экран (16:9)</PresentationFormat>
  <Paragraphs>244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Rassul Zeinulla</cp:lastModifiedBy>
  <cp:revision>1</cp:revision>
  <dcterms:created xsi:type="dcterms:W3CDTF">2026-06-25T03:05:29Z</dcterms:created>
  <dcterms:modified xsi:type="dcterms:W3CDTF">2026-06-26T07:39:27Z</dcterms:modified>
</cp:coreProperties>
</file>